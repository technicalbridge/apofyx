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89eaaaf37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89eaaaf3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89eaaaf3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89eaaaf3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89eaaaf3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89eaaaf3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89eaaaf3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89eaaaf3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9eaaaf3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89eaaaf3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89eaaaf3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89eaaaf3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9eaaaf37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89eaaaf37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89eaaaf3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89eaaaf3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8b0c29a2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8b0c29a2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89eaaaf3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89eaaaf3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89eaaaf3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89eaaaf3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89eaaaf3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89eaaaf3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89eaaaf37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89eaaaf3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89eaaaf37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89eaaaf37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10" Type="http://schemas.openxmlformats.org/officeDocument/2006/relationships/image" Target="../media/image22.png"/><Relationship Id="rId9" Type="http://schemas.openxmlformats.org/officeDocument/2006/relationships/image" Target="../media/image26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Relationship Id="rId5" Type="http://schemas.openxmlformats.org/officeDocument/2006/relationships/image" Target="../media/image17.png"/><Relationship Id="rId6" Type="http://schemas.openxmlformats.org/officeDocument/2006/relationships/image" Target="../media/image28.png"/><Relationship Id="rId7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9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u="sng"/>
              <a:t>Proyecto APT - Capstone</a:t>
            </a:r>
            <a:endParaRPr sz="3000"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lt2"/>
                </a:solidFill>
              </a:rPr>
              <a:t>Technical Bridge - Kobra</a:t>
            </a:r>
            <a:endParaRPr b="1" sz="2000">
              <a:solidFill>
                <a:schemeClr val="lt2"/>
              </a:solidFill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41700" y="3074725"/>
            <a:ext cx="3470700" cy="15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Nombres: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i="1" lang="es"/>
              <a:t>Flavio Antonio Henriquez Godoy</a:t>
            </a:r>
            <a:endParaRPr i="1"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i="1" lang="es"/>
              <a:t>Martin Philip </a:t>
            </a:r>
            <a:r>
              <a:rPr i="1" lang="es"/>
              <a:t>Gutiérrez</a:t>
            </a:r>
            <a:r>
              <a:rPr i="1" lang="es"/>
              <a:t> Kuruz</a:t>
            </a:r>
            <a:endParaRPr i="1"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i="1" lang="es"/>
              <a:t>Esteban Armando Maino Tellez</a:t>
            </a:r>
            <a:endParaRPr i="1"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i="1" lang="es"/>
              <a:t>Pedro Ignacio Campos Saez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Docente: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i="1" lang="es"/>
              <a:t>Aldo Alberto Martinez Ordenes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Sección</a:t>
            </a:r>
            <a:r>
              <a:rPr lang="es"/>
              <a:t>: 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i="1" lang="es"/>
              <a:t>Capstone_800D</a:t>
            </a:r>
            <a:endParaRPr i="1"/>
          </a:p>
        </p:txBody>
      </p:sp>
      <p:pic>
        <p:nvPicPr>
          <p:cNvPr id="136" name="Google Shape;136;p13" title="ChatGPT Image 28 ago 2026, 09_03_42 p.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425" y="2855546"/>
            <a:ext cx="3236899" cy="1818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 title="f7eb8d70-cbf4-4825-b9d1-23f13dfe7dd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050" y="330948"/>
            <a:ext cx="3621448" cy="113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title"/>
          </p:nvPr>
        </p:nvSpPr>
        <p:spPr>
          <a:xfrm>
            <a:off x="1297500" y="393750"/>
            <a:ext cx="7038900" cy="5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/>
              <a:t>Índice</a:t>
            </a:r>
            <a:endParaRPr b="1" u="sng"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1064000" y="1183275"/>
            <a:ext cx="3274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400"/>
              <a:t>Introducción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400"/>
              <a:t>Contexto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400"/>
              <a:t>Problemática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400"/>
              <a:t>Solución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400"/>
              <a:t>Metodología</a:t>
            </a:r>
            <a:r>
              <a:rPr lang="es" sz="1400"/>
              <a:t> / Plan / Roles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400"/>
              <a:t>Mapa </a:t>
            </a:r>
            <a:r>
              <a:rPr lang="es" sz="1400"/>
              <a:t>Tecnológico</a:t>
            </a:r>
            <a:r>
              <a:rPr lang="es" sz="1400"/>
              <a:t> / Arquitectura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 sz="1400"/>
              <a:t>Competencias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s" sz="1400">
                <a:solidFill>
                  <a:srgbClr val="FFFFFF"/>
                </a:solidFill>
              </a:rPr>
              <a:t>Riesgos</a:t>
            </a:r>
            <a:endParaRPr sz="1400"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s" sz="1400">
                <a:solidFill>
                  <a:srgbClr val="FFFFFF"/>
                </a:solidFill>
              </a:rPr>
              <a:t>Seguridad</a:t>
            </a:r>
            <a:endParaRPr sz="1400"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s" sz="1400">
                <a:solidFill>
                  <a:srgbClr val="FFFFFF"/>
                </a:solidFill>
              </a:rPr>
              <a:t>Modelo de negocio</a:t>
            </a:r>
            <a:endParaRPr sz="1400"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s" sz="1400">
                <a:solidFill>
                  <a:srgbClr val="FFFFFF"/>
                </a:solidFill>
              </a:rPr>
              <a:t>Mockup</a:t>
            </a:r>
            <a:endParaRPr sz="1400"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-"/>
            </a:pPr>
            <a:r>
              <a:rPr lang="es" sz="1400">
                <a:solidFill>
                  <a:srgbClr val="FFFFFF"/>
                </a:solidFill>
              </a:rPr>
              <a:t>Conclusión</a:t>
            </a:r>
            <a:endParaRPr sz="1400"/>
          </a:p>
        </p:txBody>
      </p:sp>
      <p:pic>
        <p:nvPicPr>
          <p:cNvPr id="144" name="Google Shape;144;p14" title="indic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6725" y="810700"/>
            <a:ext cx="3863549" cy="386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1297500" y="393750"/>
            <a:ext cx="2207100" cy="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/>
              <a:t>Introducción</a:t>
            </a:r>
            <a:endParaRPr b="1" u="sng"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1144350" y="1382725"/>
            <a:ext cx="3183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Kobra gestiona la cobranza con inteligencia artificial y la comunicación con el deudor se realiza a través de Kapso que conecta a la empresa con el cliente por WhatsApp. Hoy el deudor negocia por ese canal, pero debe salir de él para pagar, y ahí se pierde la conversión.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Este proyecto cierra ese tramo con tres componentes: un gateway que integra Khipu y Mercado Pago bajo una misma interfaz, un simulador que propone solo los planes que la política de la empresa permite, y un portal donde el deudor consulta sus cobros, elige un plan y paga. El dinero va directo del deudor a la empresa, sin pasar por la plataforma.</a:t>
            </a:r>
            <a:endParaRPr/>
          </a:p>
        </p:txBody>
      </p:sp>
      <p:pic>
        <p:nvPicPr>
          <p:cNvPr id="151" name="Google Shape;151;p15"/>
          <p:cNvPicPr preferRelativeResize="0"/>
          <p:nvPr/>
        </p:nvPicPr>
        <p:blipFill rotWithShape="1">
          <a:blip r:embed="rId3">
            <a:alphaModFix/>
          </a:blip>
          <a:srcRect b="0" l="3026" r="0" t="36837"/>
          <a:stretch/>
        </p:blipFill>
        <p:spPr>
          <a:xfrm>
            <a:off x="5367187" y="1621062"/>
            <a:ext cx="2995225" cy="190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 title="image.png"/>
          <p:cNvPicPr preferRelativeResize="0"/>
          <p:nvPr/>
        </p:nvPicPr>
        <p:blipFill rotWithShape="1">
          <a:blip r:embed="rId4">
            <a:alphaModFix/>
          </a:blip>
          <a:srcRect b="23693" l="15430" r="14971" t="15990"/>
          <a:stretch/>
        </p:blipFill>
        <p:spPr>
          <a:xfrm>
            <a:off x="5476250" y="341750"/>
            <a:ext cx="2777100" cy="933000"/>
          </a:xfrm>
          <a:prstGeom prst="flowChartAlternateProcess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 rotWithShape="1">
          <a:blip r:embed="rId5">
            <a:alphaModFix/>
          </a:blip>
          <a:srcRect b="5113" l="0" r="0" t="14624"/>
          <a:stretch/>
        </p:blipFill>
        <p:spPr>
          <a:xfrm>
            <a:off x="4846300" y="3755875"/>
            <a:ext cx="3713700" cy="9867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297500" y="393750"/>
            <a:ext cx="7038900" cy="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Contexto</a:t>
            </a:r>
            <a:endParaRPr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1001775" y="1493625"/>
            <a:ext cx="33795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408"/>
              <a:t>Kobra, una empresa que opera en el </a:t>
            </a:r>
            <a:r>
              <a:rPr lang="es" sz="5408"/>
              <a:t>área</a:t>
            </a:r>
            <a:r>
              <a:rPr lang="es" sz="5408"/>
              <a:t> de cobranzas con una ia agentics, de la cual se empeña en facilitar la deuda de una empresa externa, nos pide asesoramiento para mejorar su esquema de negocio, debido al poco </a:t>
            </a:r>
            <a:r>
              <a:rPr lang="es" sz="5408"/>
              <a:t>interés</a:t>
            </a:r>
            <a:r>
              <a:rPr lang="es" sz="5408"/>
              <a:t> que los deudores tienen en pagar sus deudas.</a:t>
            </a:r>
            <a:endParaRPr sz="54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5408"/>
              <a:t>Para ello hemos decidido mejorar la </a:t>
            </a:r>
            <a:r>
              <a:rPr lang="es" sz="5408"/>
              <a:t>gestión</a:t>
            </a:r>
            <a:r>
              <a:rPr lang="es" sz="5408"/>
              <a:t> con la que la ia se comunica con el deudor para que logre pagar las cuentas de forma </a:t>
            </a:r>
            <a:r>
              <a:rPr lang="es" sz="5408"/>
              <a:t>más</a:t>
            </a:r>
            <a:r>
              <a:rPr lang="es" sz="5408"/>
              <a:t> </a:t>
            </a:r>
            <a:r>
              <a:rPr lang="es" sz="5408"/>
              <a:t>cómoda</a:t>
            </a:r>
            <a:r>
              <a:rPr lang="es" sz="5408"/>
              <a:t> y </a:t>
            </a:r>
            <a:r>
              <a:rPr lang="es" sz="5408"/>
              <a:t>sencilla</a:t>
            </a:r>
            <a:r>
              <a:rPr lang="es" sz="5408"/>
              <a:t>.</a:t>
            </a:r>
            <a:endParaRPr sz="54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6" title="f7eb8d70-cbf4-4825-b9d1-23f13dfe7dd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9650" y="999250"/>
            <a:ext cx="3725875" cy="135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type="title"/>
          </p:nvPr>
        </p:nvSpPr>
        <p:spPr>
          <a:xfrm>
            <a:off x="1297500" y="393750"/>
            <a:ext cx="25347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/>
              <a:t>Problemática</a:t>
            </a:r>
            <a:endParaRPr b="1" u="sng"/>
          </a:p>
        </p:txBody>
      </p:sp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465800" y="1289325"/>
            <a:ext cx="3544800" cy="34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s"/>
              <a:t>Se pierde </a:t>
            </a:r>
            <a:r>
              <a:rPr b="1" lang="es"/>
              <a:t>conversión</a:t>
            </a:r>
            <a:r>
              <a:rPr b="1" lang="es"/>
              <a:t>:</a:t>
            </a:r>
            <a:r>
              <a:rPr lang="es"/>
              <a:t> El deudor que </a:t>
            </a:r>
            <a:r>
              <a:rPr lang="es"/>
              <a:t>aceptó</a:t>
            </a:r>
            <a:r>
              <a:rPr lang="es"/>
              <a:t> pagar tiene que ejecutar la </a:t>
            </a:r>
            <a:r>
              <a:rPr lang="es"/>
              <a:t>acción</a:t>
            </a:r>
            <a:r>
              <a:rPr lang="es"/>
              <a:t> por su cuenta, en lo que en muchas veces no completa.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s"/>
              <a:t>Los pagos se hacen exclusivamente por transferencia: </a:t>
            </a:r>
            <a:r>
              <a:rPr lang="es"/>
              <a:t>Los deudores solo tienen una </a:t>
            </a:r>
            <a:r>
              <a:rPr lang="es"/>
              <a:t>opción</a:t>
            </a:r>
            <a:r>
              <a:rPr lang="es"/>
              <a:t> de pago.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s"/>
              <a:t>El caso queda indeterminado: </a:t>
            </a:r>
            <a:r>
              <a:rPr lang="es"/>
              <a:t>Entre el acuerdo y </a:t>
            </a:r>
            <a:r>
              <a:rPr lang="es"/>
              <a:t>conciliación</a:t>
            </a:r>
            <a:r>
              <a:rPr lang="es"/>
              <a:t> nadie sabe si el pago </a:t>
            </a:r>
            <a:r>
              <a:rPr lang="es"/>
              <a:t>ocurrió</a:t>
            </a:r>
            <a:r>
              <a:rPr lang="es"/>
              <a:t>, con el riesgo de volver a contactar a alguien que ya </a:t>
            </a:r>
            <a:r>
              <a:rPr lang="es"/>
              <a:t>pagó</a:t>
            </a:r>
            <a:r>
              <a:rPr lang="es"/>
              <a:t>.</a:t>
            </a:r>
            <a:endParaRPr/>
          </a:p>
        </p:txBody>
      </p:sp>
      <p:pic>
        <p:nvPicPr>
          <p:cNvPr id="167" name="Google Shape;167;p17" title="concepto-problema-solucion-696x46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825" y="1321950"/>
            <a:ext cx="4155325" cy="275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type="title"/>
          </p:nvPr>
        </p:nvSpPr>
        <p:spPr>
          <a:xfrm>
            <a:off x="1297500" y="393750"/>
            <a:ext cx="7038900" cy="5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/>
              <a:t>Solución</a:t>
            </a:r>
            <a:endParaRPr b="1" u="sng"/>
          </a:p>
        </p:txBody>
      </p:sp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1007425" y="1186000"/>
            <a:ext cx="3971100" cy="35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89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3"/>
              <a:buChar char="-"/>
            </a:pPr>
            <a:r>
              <a:rPr b="1" lang="es" sz="1013"/>
              <a:t>Gateway de pagos:</a:t>
            </a:r>
            <a:r>
              <a:rPr lang="es" sz="1013"/>
              <a:t> </a:t>
            </a:r>
            <a:endParaRPr sz="1013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" sz="1013"/>
              <a:t>Una sola interfaz sobre Khipu y mercadopago que emite cobros, recibe </a:t>
            </a:r>
            <a:r>
              <a:rPr lang="es" sz="1013"/>
              <a:t>notificación</a:t>
            </a:r>
            <a:r>
              <a:rPr lang="es" sz="1013"/>
              <a:t> del proveedor y actualiza el estado, incorporando una pasarela nueva no obliga a la </a:t>
            </a:r>
            <a:r>
              <a:rPr lang="es" sz="1013"/>
              <a:t>lógica</a:t>
            </a:r>
            <a:r>
              <a:rPr lang="es" sz="1013"/>
              <a:t> de cobranza </a:t>
            </a:r>
            <a:endParaRPr sz="1013"/>
          </a:p>
          <a:p>
            <a:pPr indent="-292894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3"/>
              <a:buChar char="-"/>
            </a:pPr>
            <a:r>
              <a:rPr b="1" lang="es" sz="1013"/>
              <a:t>Simulador de planes:</a:t>
            </a:r>
            <a:r>
              <a:rPr lang="es" sz="1013"/>
              <a:t> </a:t>
            </a:r>
            <a:endParaRPr sz="1013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s" sz="1013"/>
              <a:t>Calcula las alternativas a partir de la </a:t>
            </a:r>
            <a:r>
              <a:rPr lang="es" sz="1013"/>
              <a:t>política</a:t>
            </a:r>
            <a:r>
              <a:rPr lang="es" sz="1013"/>
              <a:t> comercial de la empresa y propone solo las admisibles, si el deudor pide algo fuera de la </a:t>
            </a:r>
            <a:r>
              <a:rPr lang="es" sz="1013"/>
              <a:t>política</a:t>
            </a:r>
            <a:r>
              <a:rPr lang="es" sz="1013"/>
              <a:t>, devuelve el motivo y la </a:t>
            </a:r>
            <a:r>
              <a:rPr lang="es" sz="1013"/>
              <a:t>opción</a:t>
            </a:r>
            <a:r>
              <a:rPr lang="es" sz="1013"/>
              <a:t> </a:t>
            </a:r>
            <a:r>
              <a:rPr lang="es" sz="1013"/>
              <a:t>más</a:t>
            </a:r>
            <a:r>
              <a:rPr lang="es" sz="1013"/>
              <a:t> cercana.</a:t>
            </a:r>
            <a:endParaRPr sz="1013"/>
          </a:p>
          <a:p>
            <a:pPr indent="-292894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3"/>
              <a:buChar char="-"/>
            </a:pPr>
            <a:r>
              <a:rPr b="1" lang="es" sz="1013"/>
              <a:t>Portal del deudor:</a:t>
            </a:r>
            <a:r>
              <a:rPr lang="es" sz="1013"/>
              <a:t> </a:t>
            </a:r>
            <a:endParaRPr sz="1013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es" sz="1013"/>
              <a:t>Se abre desde el enlace </a:t>
            </a:r>
            <a:r>
              <a:rPr lang="es" sz="1013"/>
              <a:t>enviado</a:t>
            </a:r>
            <a:r>
              <a:rPr lang="es" sz="1013"/>
              <a:t> en la </a:t>
            </a:r>
            <a:r>
              <a:rPr lang="es" sz="1013"/>
              <a:t>conversación</a:t>
            </a:r>
            <a:r>
              <a:rPr lang="es" sz="1013"/>
              <a:t> y permite previa </a:t>
            </a:r>
            <a:r>
              <a:rPr lang="es" sz="1013"/>
              <a:t>verificación</a:t>
            </a:r>
            <a:r>
              <a:rPr lang="es" sz="1013"/>
              <a:t> de identidad, consultar los cobros por años y </a:t>
            </a:r>
            <a:r>
              <a:rPr lang="es" sz="1013"/>
              <a:t>mes</a:t>
            </a:r>
            <a:r>
              <a:rPr lang="es" sz="1013"/>
              <a:t> , elegir un plan, pagar y descargar el comprobante.</a:t>
            </a:r>
            <a:endParaRPr sz="1013"/>
          </a:p>
        </p:txBody>
      </p:sp>
      <p:pic>
        <p:nvPicPr>
          <p:cNvPr id="174" name="Google Shape;174;p18" title="soluc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1475" y="1186000"/>
            <a:ext cx="3099450" cy="30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1297500" y="2929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 / Plan / Roles</a:t>
            </a:r>
            <a:endParaRPr/>
          </a:p>
        </p:txBody>
      </p:sp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107100" y="1259500"/>
            <a:ext cx="8389200" cy="32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8"/>
              <a:t>Se ha utilizado KANBAN para la asignación/ priorización de tareas y se ha utilizado la metodología SCRUM para la asignación de roles siendo :</a:t>
            </a:r>
            <a:endParaRPr sz="14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Product Owner (</a:t>
            </a:r>
            <a:r>
              <a:rPr lang="es"/>
              <a:t> Martín Gutiérrez):					</a:t>
            </a:r>
            <a:r>
              <a:rPr lang="es"/>
              <a:t>      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Puente entre el cliente y el SCRUM Master 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				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Equipo de desarrollo (</a:t>
            </a:r>
            <a:r>
              <a:rPr lang="es"/>
              <a:t>Pedro Campos y Flavio Henríquez)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	Principales desarrolladores del equipo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3737400" y="1991000"/>
            <a:ext cx="30630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Scrum Master  (</a:t>
            </a:r>
            <a:r>
              <a:rPr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Esteban Maino </a:t>
            </a:r>
            <a:r>
              <a:rPr b="1"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):</a:t>
            </a:r>
            <a:r>
              <a:rPr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Organización de Sprints y organización del equipo 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750" y="2767600"/>
            <a:ext cx="2178700" cy="217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type="title"/>
          </p:nvPr>
        </p:nvSpPr>
        <p:spPr>
          <a:xfrm>
            <a:off x="1052550" y="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Herramientas de desarrollo y plan</a:t>
            </a:r>
            <a:r>
              <a:rPr lang="es"/>
              <a:t> </a:t>
            </a:r>
            <a:endParaRPr/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25" y="609725"/>
            <a:ext cx="7343875" cy="444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Competencias</a:t>
            </a:r>
            <a:endParaRPr/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000" y="1517475"/>
            <a:ext cx="3130799" cy="28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>
            <p:ph idx="1" type="body"/>
          </p:nvPr>
        </p:nvSpPr>
        <p:spPr>
          <a:xfrm>
            <a:off x="966575" y="909100"/>
            <a:ext cx="4942500" cy="2973900"/>
          </a:xfrm>
          <a:prstGeom prst="rect">
            <a:avLst/>
          </a:prstGeom>
        </p:spPr>
        <p:txBody>
          <a:bodyPr anchorCtr="0" anchor="t" bIns="54000" lIns="91425" spcFirstLastPara="1" rIns="91425" wrap="square" tIns="18000">
            <a:normAutofit fontScale="25000" lnSpcReduction="20000"/>
          </a:bodyPr>
          <a:lstStyle/>
          <a:p>
            <a:pPr indent="-302873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s" sz="4679">
                <a:latin typeface="Arial"/>
                <a:ea typeface="Arial"/>
                <a:cs typeface="Arial"/>
                <a:sym typeface="Arial"/>
              </a:rPr>
              <a:t>El diseño, desarrollo e implementación de nuevas herramientas que cumplan con los requisitos del trabajo y otras necesidades pertinentes.</a:t>
            </a:r>
            <a:endParaRPr sz="4679">
              <a:latin typeface="Arial"/>
              <a:ea typeface="Arial"/>
              <a:cs typeface="Arial"/>
              <a:sym typeface="Arial"/>
            </a:endParaRPr>
          </a:p>
          <a:p>
            <a:pPr indent="-302873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s" sz="4679">
                <a:latin typeface="Arial"/>
                <a:ea typeface="Arial"/>
                <a:cs typeface="Arial"/>
                <a:sym typeface="Arial"/>
              </a:rPr>
              <a:t>Se analizan y estudian los requisitos, al tiempo que se configuran e integran los sistemas para satisfacer las necesidades de la empresa.</a:t>
            </a:r>
            <a:endParaRPr sz="4679">
              <a:latin typeface="Arial"/>
              <a:ea typeface="Arial"/>
              <a:cs typeface="Arial"/>
              <a:sym typeface="Arial"/>
            </a:endParaRPr>
          </a:p>
          <a:p>
            <a:pPr indent="-302873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s" sz="4679">
                <a:latin typeface="Arial"/>
                <a:ea typeface="Arial"/>
                <a:cs typeface="Arial"/>
                <a:sym typeface="Arial"/>
              </a:rPr>
              <a:t>Gestión de bases de datos y uso de métodos de procesamiento de datos, big data y análisis estadístico para respaldar la toma de decisiones.</a:t>
            </a:r>
            <a:endParaRPr sz="4679">
              <a:latin typeface="Arial"/>
              <a:ea typeface="Arial"/>
              <a:cs typeface="Arial"/>
              <a:sym typeface="Arial"/>
            </a:endParaRPr>
          </a:p>
          <a:p>
            <a:pPr indent="-302873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s" sz="4679">
                <a:latin typeface="Arial"/>
                <a:ea typeface="Arial"/>
                <a:cs typeface="Arial"/>
                <a:sym typeface="Arial"/>
              </a:rPr>
              <a:t>Integración de las mejores prácticas y herramientas para crear software de alta calidad, manteniendo al mismo tiempo su estructura y facilidad de mantenimiento.</a:t>
            </a:r>
            <a:endParaRPr sz="4679">
              <a:latin typeface="Arial"/>
              <a:ea typeface="Arial"/>
              <a:cs typeface="Arial"/>
              <a:sym typeface="Arial"/>
            </a:endParaRPr>
          </a:p>
          <a:p>
            <a:pPr indent="-302873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s" sz="4679">
                <a:latin typeface="Arial"/>
                <a:ea typeface="Arial"/>
                <a:cs typeface="Arial"/>
                <a:sym typeface="Arial"/>
              </a:rPr>
              <a:t>Utiliza metodologías ágiles y principios de gestión de proyectos tecnológicos para garantizar la ejecución satisfactoria de nuevos proyectos.</a:t>
            </a:r>
            <a:endParaRPr sz="4679">
              <a:latin typeface="Arial"/>
              <a:ea typeface="Arial"/>
              <a:cs typeface="Arial"/>
              <a:sym typeface="Arial"/>
            </a:endParaRPr>
          </a:p>
          <a:p>
            <a:pPr indent="-302873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s" sz="4679">
                <a:latin typeface="Arial"/>
                <a:ea typeface="Arial"/>
                <a:cs typeface="Arial"/>
                <a:sym typeface="Arial"/>
              </a:rPr>
              <a:t>Desarrolla habilidades de comunicación, presentación y trabajo en equipo, y refuerza la capacidad de establecer relaciones con los equipos y los usuarios.</a:t>
            </a:r>
            <a:endParaRPr sz="4679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Arquitectura de funcionamiento</a:t>
            </a:r>
            <a:endParaRPr/>
          </a:p>
        </p:txBody>
      </p:sp>
      <p:pic>
        <p:nvPicPr>
          <p:cNvPr id="201" name="Google Shape;20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025" y="1230950"/>
            <a:ext cx="5252141" cy="353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706050" y="145575"/>
            <a:ext cx="39024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Riesgos</a:t>
            </a:r>
            <a:endParaRPr/>
          </a:p>
        </p:txBody>
      </p:sp>
      <p:pic>
        <p:nvPicPr>
          <p:cNvPr id="207" name="Google Shape;2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9200" y="3099850"/>
            <a:ext cx="2884050" cy="195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9200" y="320375"/>
            <a:ext cx="2862925" cy="270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642500"/>
            <a:ext cx="5147775" cy="4402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Seguridad</a:t>
            </a:r>
            <a:endParaRPr/>
          </a:p>
        </p:txBody>
      </p:sp>
      <p:pic>
        <p:nvPicPr>
          <p:cNvPr id="215" name="Google Shape;21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500" y="1188000"/>
            <a:ext cx="680924" cy="476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9538" y="1188012"/>
            <a:ext cx="578200" cy="5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2013" y="1238725"/>
            <a:ext cx="476775" cy="4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6975" y="1250925"/>
            <a:ext cx="578200" cy="57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99246" y="3236700"/>
            <a:ext cx="423850" cy="4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86802" y="3236705"/>
            <a:ext cx="423850" cy="423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9912" y="3270448"/>
            <a:ext cx="356384" cy="3564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1555400" y="831600"/>
            <a:ext cx="144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Protección de datos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1297500" y="1790963"/>
            <a:ext cx="18423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" sz="9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Protección de los datos personales y financieros de los deudores mediante el control de acceso y la aplicación de prácticas recomendadas de almacenamiento.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3124425" y="833350"/>
            <a:ext cx="18423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0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Autenticación y autorización</a:t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3322875" y="1799613"/>
            <a:ext cx="14454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9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Verificación de la identidad del usuario y restricción del acceso de acuerdo con los permisos correspondientes.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5151850" y="847050"/>
            <a:ext cx="129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Seguridad de la API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5151850" y="1756650"/>
            <a:ext cx="13842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9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Autenticación, gestión de permisos y validación de solicitudes entre los componentes del sistema.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6636875" y="834400"/>
            <a:ext cx="189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Protección de las credenciales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6809825" y="1790975"/>
            <a:ext cx="15525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9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almacenar las claves ni las credenciales de la pasarela de pago directamente en el código fuente.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1367775" y="2897988"/>
            <a:ext cx="148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Comunicación segura</a:t>
            </a:r>
            <a:endParaRPr b="1"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1334925" y="3859900"/>
            <a:ext cx="15525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9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Usar </a:t>
            </a:r>
            <a:r>
              <a:rPr lang="es" sz="9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HTTPS/TLS para proteger la información transmitida entre el portal, las API y las pasarelas de pago.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3509675" y="2898000"/>
            <a:ext cx="57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Pagos</a:t>
            </a:r>
            <a:endParaRPr b="1" sz="1000"/>
          </a:p>
        </p:txBody>
      </p:sp>
      <p:sp>
        <p:nvSpPr>
          <p:cNvPr id="233" name="Google Shape;233;p24"/>
          <p:cNvSpPr txBox="1"/>
          <p:nvPr/>
        </p:nvSpPr>
        <p:spPr>
          <a:xfrm>
            <a:off x="3139025" y="3638050"/>
            <a:ext cx="13194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9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Kobra actúa como intermediario; los fondos se transfieren directamente del deudor a la empresa acreedora, sin que la plataforma los retenga en custodia.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4516600" y="2898000"/>
            <a:ext cx="1384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b="1" lang="es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Validación de datos</a:t>
            </a:r>
            <a:endParaRPr b="1" sz="1000"/>
          </a:p>
        </p:txBody>
      </p:sp>
      <p:sp>
        <p:nvSpPr>
          <p:cNvPr id="235" name="Google Shape;235;p24"/>
          <p:cNvSpPr txBox="1"/>
          <p:nvPr/>
        </p:nvSpPr>
        <p:spPr>
          <a:xfrm>
            <a:off x="4485988" y="3819525"/>
            <a:ext cx="1445400" cy="9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s" sz="9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Verificar </a:t>
            </a:r>
            <a:r>
              <a:rPr lang="es" sz="9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 </a:t>
            </a:r>
            <a:r>
              <a:rPr lang="es" sz="9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depurar</a:t>
            </a:r>
            <a:r>
              <a:rPr lang="es" sz="91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los datos ingresados por los usuarios para prevenir ataques como la inyección de código.</a:t>
            </a:r>
            <a:endParaRPr/>
          </a:p>
        </p:txBody>
      </p:sp>
      <p:pic>
        <p:nvPicPr>
          <p:cNvPr id="236" name="Google Shape;236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06750" y="2821650"/>
            <a:ext cx="2130626" cy="213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Modelo de Negocio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1354500" y="849050"/>
            <a:ext cx="5130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Estrategia Principal :  Porcentaje de ganancia por cliente.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metodología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A medida que el cliente hace uso del sistema nos 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deberá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pagar un porcentaje de las 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ganancias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que se adquiere por el producto.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Porcentaje: El porcentaje 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irá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variando dependiendo de la cantidad de ganancia de este producto.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Modelo 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matemático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43" name="Google Shape;243;p25" title="latex-equation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6300" y="3406550"/>
            <a:ext cx="3682325" cy="100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 title="latex-equation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1900" y="3265588"/>
            <a:ext cx="1710625" cy="51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5" title="latex-equation(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4100" y="4161025"/>
            <a:ext cx="1710625" cy="41815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5731275" y="2928200"/>
            <a:ext cx="253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Pago por el uso del producto: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5783225" y="3776125"/>
            <a:ext cx="227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Ganancia de kobra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1778300" y="2928200"/>
            <a:ext cx="264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Porcentaje de cobro por 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ganancia</a:t>
            </a:r>
            <a:r>
              <a:rPr lang="es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Mockup</a:t>
            </a:r>
            <a:endParaRPr/>
          </a:p>
        </p:txBody>
      </p:sp>
      <p:pic>
        <p:nvPicPr>
          <p:cNvPr id="254" name="Google Shape;2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725" y="925613"/>
            <a:ext cx="1972310" cy="35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6"/>
          <p:cNvPicPr preferRelativeResize="0"/>
          <p:nvPr/>
        </p:nvPicPr>
        <p:blipFill rotWithShape="1">
          <a:blip r:embed="rId4">
            <a:alphaModFix/>
          </a:blip>
          <a:srcRect b="0" l="5713" r="9152" t="3911"/>
          <a:stretch/>
        </p:blipFill>
        <p:spPr>
          <a:xfrm>
            <a:off x="1761225" y="1115250"/>
            <a:ext cx="1720901" cy="347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6"/>
          <p:cNvPicPr preferRelativeResize="0"/>
          <p:nvPr/>
        </p:nvPicPr>
        <p:blipFill rotWithShape="1">
          <a:blip r:embed="rId5">
            <a:alphaModFix/>
          </a:blip>
          <a:srcRect b="0" l="0" r="6890" t="0"/>
          <a:stretch/>
        </p:blipFill>
        <p:spPr>
          <a:xfrm>
            <a:off x="7193425" y="966086"/>
            <a:ext cx="1670300" cy="3211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1278" y="1020272"/>
            <a:ext cx="2115725" cy="378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6"/>
          <p:cNvPicPr preferRelativeResize="0"/>
          <p:nvPr/>
        </p:nvPicPr>
        <p:blipFill rotWithShape="1">
          <a:blip r:embed="rId7">
            <a:alphaModFix/>
          </a:blip>
          <a:srcRect b="0" l="0" r="6777" t="0"/>
          <a:stretch/>
        </p:blipFill>
        <p:spPr>
          <a:xfrm>
            <a:off x="-164700" y="1020275"/>
            <a:ext cx="1972300" cy="378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>
            <p:ph type="title"/>
          </p:nvPr>
        </p:nvSpPr>
        <p:spPr>
          <a:xfrm>
            <a:off x="1297500" y="393750"/>
            <a:ext cx="70389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</a:t>
            </a:r>
            <a:endParaRPr/>
          </a:p>
        </p:txBody>
      </p:sp>
      <p:sp>
        <p:nvSpPr>
          <p:cNvPr id="264" name="Google Shape;264;p27"/>
          <p:cNvSpPr txBox="1"/>
          <p:nvPr>
            <p:ph idx="1" type="body"/>
          </p:nvPr>
        </p:nvSpPr>
        <p:spPr>
          <a:xfrm>
            <a:off x="1058225" y="1941375"/>
            <a:ext cx="6610500" cy="13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Kobra data Bridge será una herramienta que complementa todo el ecosistema existente del cliente,</a:t>
            </a:r>
            <a:r>
              <a:rPr lang="es"/>
              <a:t>  ofreciendo alternativas de pasarelas pago para una mayor versatilidad , favoreciendo el pago inmediato, en conjunto de la posibilidad de pagar a través del crédito.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